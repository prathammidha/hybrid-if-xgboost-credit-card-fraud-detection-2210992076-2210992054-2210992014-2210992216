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1" r:id="rId6"/>
    <p:sldId id="257" r:id="rId7"/>
    <p:sldId id="272" r:id="rId8"/>
    <p:sldId id="273" r:id="rId9"/>
    <p:sldId id="278" r:id="rId10"/>
    <p:sldId id="284" r:id="rId11"/>
    <p:sldId id="283" r:id="rId12"/>
    <p:sldId id="281" r:id="rId13"/>
    <p:sldId id="285" r:id="rId14"/>
    <p:sldId id="282" r:id="rId15"/>
    <p:sldId id="286" r:id="rId16"/>
    <p:sldId id="275" r:id="rId17"/>
    <p:sldId id="277" r:id="rId18"/>
    <p:sldId id="269" r:id="rId19"/>
    <p:sldId id="276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2F35F-6865-4EED-ABE0-DB9B34B84E3E}" v="25" dt="2026-03-28T04:42:2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21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95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EC7D-9C10-E8CD-3D65-72DA4B0D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190B4-CEB7-562B-4C84-DB0454B11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C54B5-63F9-0E7C-0F95-5CD200602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403D0-0972-92D0-CA6C-EFDF9E89C2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56154-4269-4C68-7ED7-2596DD11F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9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 panose="02020603050405020304"/>
              </a:rPr>
              <a:t>5/14/2026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  <a:t>‹#›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9614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/>
              <a:t>A Hybrid Isolation Forest + </a:t>
            </a:r>
            <a:r>
              <a:rPr lang="en-US" dirty="0" err="1"/>
              <a:t>XGBoost</a:t>
            </a:r>
            <a:r>
              <a:rPr lang="en-US" dirty="0"/>
              <a:t> Framework with Cost-Sensitive Threshold Optimization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Pratham Midha - 2210992076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Prachi Jain - 2210992054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Palak Garg - 2210992014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Saikat Hazra - 2210992216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Darpan Anand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6684" y="481781"/>
            <a:ext cx="4335666" cy="462116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88374" y="1199535"/>
            <a:ext cx="8229240" cy="4871884"/>
          </a:xfrm>
        </p:spPr>
        <p:txBody>
          <a:bodyPr/>
          <a:lstStyle/>
          <a:p>
            <a:pPr marL="469900" indent="-457200">
              <a:buSzPct val="100000"/>
              <a:buChar char="❑"/>
              <a:defRPr sz="2800" spc="-1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In</a:t>
            </a:r>
            <a:r>
              <a:rPr lang="en-US" sz="2800" spc="-15" dirty="0"/>
              <a:t>trod</a:t>
            </a:r>
            <a:r>
              <a:rPr lang="en-US" sz="2800" spc="-5" dirty="0"/>
              <a:t>u</a:t>
            </a:r>
            <a:r>
              <a:rPr lang="en-US" sz="2800" spc="-15" dirty="0"/>
              <a:t>ct</a:t>
            </a:r>
            <a:r>
              <a:rPr lang="en-US" sz="2800" spc="-25" dirty="0"/>
              <a:t>i</a:t>
            </a:r>
            <a:r>
              <a:rPr lang="en-US" sz="2800" spc="-15" dirty="0"/>
              <a:t>on</a:t>
            </a:r>
          </a:p>
          <a:p>
            <a:pPr marL="469900" indent="-457200">
              <a:buSzPct val="100000"/>
              <a:buChar char="❑"/>
              <a:defRPr sz="2800" spc="-1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Abstract</a:t>
            </a:r>
          </a:p>
          <a:p>
            <a:pPr marL="469900" indent="-457200">
              <a:buSzPct val="100000"/>
              <a:buChar char="❑"/>
              <a:defRPr sz="2800" spc="-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P</a:t>
            </a:r>
            <a:r>
              <a:rPr lang="en-US" sz="2800" spc="-5" dirty="0"/>
              <a:t>r</a:t>
            </a:r>
            <a:r>
              <a:rPr lang="en-US" sz="2800" spc="-15" dirty="0"/>
              <a:t>oblem</a:t>
            </a:r>
            <a:r>
              <a:rPr lang="en-US" sz="2800" spc="-5" dirty="0"/>
              <a:t> </a:t>
            </a:r>
            <a:r>
              <a:rPr lang="en-US" sz="2800" spc="-15" dirty="0"/>
              <a:t>Statement</a:t>
            </a:r>
          </a:p>
          <a:p>
            <a:pPr marL="469900" indent="-457200">
              <a:buSzPct val="100000"/>
              <a:buChar char="❑"/>
              <a:defRPr sz="2800" spc="-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spc="-15" dirty="0"/>
              <a:t>Schema Validation Framework</a:t>
            </a:r>
          </a:p>
          <a:p>
            <a:pPr marL="469900" indent="-457200">
              <a:buSzPct val="100000"/>
              <a:buChar char="❑"/>
              <a:defRPr sz="2800" spc="-2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T</a:t>
            </a:r>
            <a:r>
              <a:rPr lang="en-US" sz="2800" spc="-15" dirty="0"/>
              <a:t>e</a:t>
            </a:r>
            <a:r>
              <a:rPr lang="en-US" sz="2800" spc="-30" dirty="0"/>
              <a:t>c</a:t>
            </a:r>
            <a:r>
              <a:rPr lang="en-US" sz="2800" spc="-15" dirty="0"/>
              <a:t>h</a:t>
            </a:r>
            <a:r>
              <a:rPr lang="en-US" sz="2800" spc="-10" dirty="0"/>
              <a:t>n</a:t>
            </a:r>
            <a:r>
              <a:rPr lang="en-US" sz="2800" spc="-15" dirty="0"/>
              <a:t>ical</a:t>
            </a:r>
            <a:r>
              <a:rPr lang="en-US" sz="2800" spc="-5" dirty="0"/>
              <a:t> </a:t>
            </a:r>
            <a:r>
              <a:rPr lang="en-US" sz="2800" spc="-20" dirty="0"/>
              <a:t>De</a:t>
            </a:r>
            <a:r>
              <a:rPr lang="en-US" sz="2800" spc="-5" dirty="0"/>
              <a:t>t</a:t>
            </a:r>
            <a:r>
              <a:rPr lang="en-US" sz="2800" spc="-10" dirty="0"/>
              <a:t>ails</a:t>
            </a:r>
          </a:p>
          <a:p>
            <a:pPr marL="469900" indent="-457200">
              <a:buSzPct val="100000"/>
              <a:buChar char="❑"/>
              <a:defRPr sz="2800" spc="-2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Methodology</a:t>
            </a:r>
          </a:p>
          <a:p>
            <a:pPr marL="469900" indent="-457200">
              <a:buSzPct val="100000"/>
              <a:buChar char="❑"/>
              <a:defRPr sz="2800" spc="-2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</a:t>
            </a:r>
            <a:endParaRPr lang="en-US" sz="2800" spc="-10" dirty="0"/>
          </a:p>
          <a:p>
            <a:pPr marL="469900" indent="-457200">
              <a:buSzPct val="100000"/>
              <a:buChar char="❑"/>
              <a:defRPr sz="2800" spc="-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Key</a:t>
            </a:r>
            <a:r>
              <a:rPr lang="en-US" sz="2800" spc="-5" dirty="0"/>
              <a:t> </a:t>
            </a:r>
            <a:r>
              <a:rPr lang="en-US" sz="2800" spc="-15" dirty="0"/>
              <a:t>Fea</a:t>
            </a:r>
            <a:r>
              <a:rPr lang="en-US" sz="2800" dirty="0"/>
              <a:t>t</a:t>
            </a:r>
            <a:r>
              <a:rPr lang="en-US" sz="2800" spc="-15" dirty="0"/>
              <a:t>u</a:t>
            </a:r>
            <a:r>
              <a:rPr lang="en-US" sz="2800" spc="-5" dirty="0"/>
              <a:t>r</a:t>
            </a:r>
            <a:r>
              <a:rPr lang="en-US" sz="2800" spc="-15" dirty="0"/>
              <a:t>es</a:t>
            </a:r>
          </a:p>
          <a:p>
            <a:pPr marL="469900" indent="-457200">
              <a:buSzPct val="100000"/>
              <a:buChar char="❑"/>
              <a:defRPr sz="2800" spc="-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F</a:t>
            </a:r>
            <a:r>
              <a:rPr lang="en-US" sz="2800" spc="-10" dirty="0"/>
              <a:t>u</a:t>
            </a:r>
            <a:r>
              <a:rPr lang="en-US" sz="2800" spc="-15" dirty="0"/>
              <a:t>ture</a:t>
            </a:r>
            <a:r>
              <a:rPr lang="en-US" sz="2800" spc="-5" dirty="0"/>
              <a:t> </a:t>
            </a:r>
            <a:r>
              <a:rPr lang="en-US" sz="2800" spc="-15" dirty="0"/>
              <a:t>sc</a:t>
            </a:r>
            <a:r>
              <a:rPr lang="en-US" sz="2800" spc="-10" dirty="0"/>
              <a:t>o</a:t>
            </a:r>
            <a:r>
              <a:rPr lang="en-US" sz="2800" spc="-15" dirty="0"/>
              <a:t>pe</a:t>
            </a:r>
          </a:p>
          <a:p>
            <a:pPr marL="469900" indent="-457200">
              <a:buSzPct val="100000"/>
              <a:buChar char="❑"/>
              <a:defRPr sz="2800" spc="-1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Concl</a:t>
            </a:r>
            <a:r>
              <a:rPr lang="en-US" sz="2800" spc="-10" dirty="0"/>
              <a:t>u</a:t>
            </a:r>
            <a:r>
              <a:rPr lang="en-US" sz="2800" dirty="0"/>
              <a:t>sion</a:t>
            </a:r>
          </a:p>
          <a:p>
            <a:pPr marL="469900" indent="-457200">
              <a:buSzPct val="100000"/>
              <a:buChar char="❑"/>
              <a:defRPr sz="2800" spc="-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sz="2800" dirty="0"/>
              <a:t>R</a:t>
            </a:r>
            <a:r>
              <a:rPr lang="en-US" sz="2800" spc="-30" dirty="0"/>
              <a:t>e</a:t>
            </a:r>
            <a:r>
              <a:rPr lang="en-US" sz="2800" spc="-15" dirty="0"/>
              <a:t>fere</a:t>
            </a:r>
            <a:r>
              <a:rPr lang="en-US" sz="2800" spc="-5" dirty="0"/>
              <a:t>n</a:t>
            </a:r>
            <a:r>
              <a:rPr lang="en-US" sz="2800" spc="-15" dirty="0"/>
              <a:t>ces/Li</a:t>
            </a:r>
            <a:r>
              <a:rPr lang="en-US" sz="2800" spc="-10" dirty="0"/>
              <a:t>n</a:t>
            </a:r>
            <a:r>
              <a:rPr lang="en-US" sz="2800" spc="-15" dirty="0"/>
              <a:t>ks</a:t>
            </a:r>
            <a:r>
              <a:rPr lang="en-US" sz="2800" spc="5" dirty="0"/>
              <a:t> </a:t>
            </a:r>
            <a:r>
              <a:rPr lang="en-US" sz="2800" spc="-15" dirty="0"/>
              <a:t>used</a:t>
            </a:r>
          </a:p>
          <a:p>
            <a:pPr marL="0" indent="0">
              <a:buNone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3</a:t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70688" y="1109742"/>
            <a:ext cx="8790432" cy="547393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/>
              <a:t>The Global Challenge:</a:t>
            </a:r>
            <a:r>
              <a:rPr lang="en-US" dirty="0"/>
              <a:t> Credit card fraud causes billions of dollars in losses annually, directly impacting financial institutions and merchants.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The Role of AI:</a:t>
            </a:r>
            <a:r>
              <a:rPr lang="en-US" dirty="0"/>
              <a:t> Machine learning is essential for detecting fraudulent patterns instantly, but traditional models face a major hurdle known as the </a:t>
            </a:r>
            <a:r>
              <a:rPr lang="en-US" b="1" dirty="0"/>
              <a:t>Accuracy Paradox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The Data Reality:</a:t>
            </a:r>
            <a:r>
              <a:rPr lang="en-US" dirty="0"/>
              <a:t> In real-world banking data, fraud is extremely rare (roughly 1 in every 578 transactions).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The False Positive Issue:</a:t>
            </a:r>
            <a:r>
              <a:rPr lang="en-US" dirty="0"/>
              <a:t> Flagging legitimate transactions as fraud annoys customers and increases support costs, creating a delicate balancing act.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Project Goal:</a:t>
            </a:r>
            <a:r>
              <a:rPr lang="en-US" dirty="0"/>
              <a:t> Build an end-to-end framework that optimizes for </a:t>
            </a:r>
            <a:r>
              <a:rPr lang="en-US" b="1" dirty="0"/>
              <a:t>real-world financial cost</a:t>
            </a:r>
            <a:r>
              <a:rPr lang="en-US" dirty="0"/>
              <a:t> rather than just focusing on raw statistical accuracy.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q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574" y="0"/>
            <a:ext cx="4640466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26142" y="0"/>
            <a:ext cx="8691715" cy="6164826"/>
          </a:xfrm>
        </p:spPr>
        <p:txBody>
          <a:bodyPr/>
          <a:lstStyle/>
          <a:p>
            <a:r>
              <a:rPr lang="en-US" sz="1800" dirty="0">
                <a:latin typeface="+mn-lt"/>
              </a:rPr>
              <a:t>Traditional ML classification models fail when presented with extreme class imbalance (e.g., 99.8% Legitimate vs 0.17% Fraud).</a:t>
            </a:r>
            <a:br>
              <a:rPr lang="en-US" sz="1800" b="1" dirty="0">
                <a:latin typeface="+mn-lt"/>
              </a:rPr>
            </a:br>
            <a:endParaRPr lang="en-US" sz="1800" b="1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We propose a Hybrid model by utilizing a novel IF-XGB-CST model.</a:t>
            </a:r>
            <a:br>
              <a:rPr lang="en-US" sz="1800" b="1" dirty="0">
                <a:latin typeface="+mn-lt"/>
              </a:rPr>
            </a:br>
            <a:endParaRPr lang="en-US" sz="1800" b="1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Stage 1: </a:t>
            </a:r>
            <a:r>
              <a:rPr lang="en-US" sz="1800" dirty="0">
                <a:latin typeface="+mn-lt"/>
              </a:rPr>
              <a:t>Applies unsupervised anomaly scoring using an Isolation Forest to detect outliers without relying on labels.</a:t>
            </a:r>
            <a:br>
              <a:rPr lang="en-US" sz="1800" b="1" dirty="0">
                <a:latin typeface="+mn-lt"/>
              </a:rPr>
            </a:br>
            <a:endParaRPr lang="en-US" sz="1800" b="1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Stage 2: </a:t>
            </a:r>
            <a:r>
              <a:rPr lang="en-US" sz="1800" dirty="0">
                <a:latin typeface="+mn-lt"/>
              </a:rPr>
              <a:t>Uses </a:t>
            </a:r>
            <a:r>
              <a:rPr lang="en-US" sz="1800" dirty="0" err="1">
                <a:latin typeface="+mn-lt"/>
              </a:rPr>
              <a:t>XGBoost</a:t>
            </a:r>
            <a:r>
              <a:rPr lang="en-US" sz="1800" dirty="0">
                <a:latin typeface="+mn-lt"/>
              </a:rPr>
              <a:t> (Extreme Gradient Boosting) to classify transactions based on original features plus the anomaly score.</a:t>
            </a:r>
            <a:br>
              <a:rPr lang="en-US" sz="1800" b="1" dirty="0">
                <a:latin typeface="+mn-lt"/>
              </a:rPr>
            </a:br>
            <a:endParaRPr lang="en-US" sz="1800" b="1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Stage 3: </a:t>
            </a:r>
            <a:r>
              <a:rPr lang="en-US" sz="1800" dirty="0">
                <a:latin typeface="+mn-lt"/>
              </a:rPr>
              <a:t>Applies Cost-Sensitive Decision Thresholding to minimize real financial risk.</a:t>
            </a:r>
            <a:br>
              <a:rPr lang="en-US" sz="1800" b="1" dirty="0">
                <a:latin typeface="+mn-lt"/>
              </a:rPr>
            </a:br>
            <a:endParaRPr lang="en-US" sz="1800" b="1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Result: </a:t>
            </a:r>
            <a:r>
              <a:rPr lang="en-US" sz="1800" dirty="0">
                <a:latin typeface="+mn-lt"/>
              </a:rPr>
              <a:t>Achieves superior Recall and F1-Score compared to standard baseline models, providing a robust, production-ready solution.</a:t>
            </a:r>
            <a:endParaRPr lang="en-IN" sz="180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96645" y="1012723"/>
            <a:ext cx="8701549" cy="54274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+mn-lt"/>
                <a:cs typeface="Times New Roman" panose="02020603050405020304" pitchFamily="18" charset="0"/>
              </a:rPr>
              <a:t>The Imbalanced Dataset: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Our Kaggle dataset contains 284,315 legitimate transactions but only 492 fraudulent ones.</a:t>
            </a:r>
            <a:br>
              <a:rPr lang="en-US" sz="1800" dirty="0">
                <a:latin typeface="+mn-lt"/>
                <a:cs typeface="Times New Roman" panose="02020603050405020304" pitchFamily="18" charset="0"/>
              </a:rPr>
            </a:b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+mn-lt"/>
                <a:cs typeface="Times New Roman" panose="02020603050405020304" pitchFamily="18" charset="0"/>
              </a:rPr>
              <a:t>The Accuracy Paradox: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A naive, "dumb" AI that guesses "Legitimate" 100% of the time achieves 99.83% accuracy, but catches zero frauds. This renders standard accuracy completely useless.</a:t>
            </a:r>
            <a:br>
              <a:rPr lang="en-US" sz="1800" dirty="0">
                <a:latin typeface="+mn-lt"/>
                <a:cs typeface="Times New Roman" panose="02020603050405020304" pitchFamily="18" charset="0"/>
              </a:rPr>
            </a:b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+mn-lt"/>
                <a:cs typeface="Times New Roman" panose="02020603050405020304" pitchFamily="18" charset="0"/>
              </a:rPr>
              <a:t>Financial Asymmetry: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Missing an actual fraud (False Negative) costs the bank the transaction amount (estimated average: ~$500).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A false alarm (False Positive) only costs customer service time (estimated: ~$10).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Standard models ignore this asymmetry entirely.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18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374" y="5338915"/>
            <a:ext cx="1651820" cy="11716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5878830" cy="913765"/>
          </a:xfrm>
        </p:spPr>
        <p:txBody>
          <a:bodyPr/>
          <a:lstStyle/>
          <a:p>
            <a:pPr algn="ctr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(Core Architecture)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21225" y="1032387"/>
            <a:ext cx="8701549" cy="5476568"/>
          </a:xfrm>
        </p:spPr>
        <p:txBody>
          <a:bodyPr/>
          <a:lstStyle/>
          <a:p>
            <a:r>
              <a:rPr lang="en-US" sz="1800" b="1" dirty="0">
                <a:latin typeface="+mn-lt"/>
              </a:rPr>
              <a:t>Stage 1: Isolation Forest (Unsupervised)</a:t>
            </a:r>
            <a:endParaRPr lang="en-US" sz="1800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Isolates anomalies by randomly splitting data. Fraudulent points are easily separated in fewer steps (shorter path lengths) because they exist in low-density regions.</a:t>
            </a:r>
          </a:p>
          <a:p>
            <a:pPr lvl="1"/>
            <a:r>
              <a:rPr lang="en-US" dirty="0">
                <a:latin typeface="+mn-lt"/>
              </a:rPr>
              <a:t>Outputs an "Anomaly Score" for every transaction.</a:t>
            </a: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Stage 2: Augmented </a:t>
            </a:r>
            <a:r>
              <a:rPr lang="en-US" sz="1800" b="1" dirty="0" err="1">
                <a:latin typeface="+mn-lt"/>
              </a:rPr>
              <a:t>XGBoost</a:t>
            </a:r>
            <a:r>
              <a:rPr lang="en-US" sz="1800" b="1" dirty="0">
                <a:latin typeface="+mn-lt"/>
              </a:rPr>
              <a:t> (Supervised)</a:t>
            </a:r>
            <a:endParaRPr lang="en-US" sz="1800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The Anomaly Score is appended to the data as </a:t>
            </a:r>
            <a:r>
              <a:rPr lang="en-US" b="1" dirty="0">
                <a:latin typeface="+mn-lt"/>
              </a:rPr>
              <a:t>Feature #31</a:t>
            </a:r>
            <a:r>
              <a:rPr lang="en-US" dirty="0">
                <a:latin typeface="+mn-lt"/>
              </a:rPr>
              <a:t>.</a:t>
            </a:r>
          </a:p>
          <a:p>
            <a:pPr lvl="1"/>
            <a:r>
              <a:rPr lang="en-US" dirty="0" err="1">
                <a:latin typeface="+mn-lt"/>
              </a:rPr>
              <a:t>XGBoost</a:t>
            </a:r>
            <a:r>
              <a:rPr lang="en-US" dirty="0">
                <a:latin typeface="+mn-lt"/>
              </a:rPr>
              <a:t> learns complex, non-linear patterns combining both supervised labels and unsupervised scores.</a:t>
            </a:r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Stage 3: Cost-Sensitive Threshold Optimization</a:t>
            </a:r>
            <a:endParaRPr lang="en-US" sz="1800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Searches 300 probability thresholds to mathematically minimize the formula: Total Cost = ($500 × False Negatives) + ($10 × False Positives).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16691-CBE3-9E13-6555-067DC368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FBB0-EBA6-A173-7200-A47AC34A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878830" cy="913765"/>
          </a:xfrm>
        </p:spPr>
        <p:txBody>
          <a:bodyPr/>
          <a:lstStyle/>
          <a:p>
            <a:pPr algn="ctr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(Core Architecture)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46AAE-54A9-2B80-03CC-379779E8AE1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1225" y="1032387"/>
            <a:ext cx="8701549" cy="54765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7A447-0AC3-264E-63EE-6F1B1D0F0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6476"/>
            <a:ext cx="9144000" cy="350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04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236B-489F-7473-C6B0-110B3E67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9138-F84F-A361-629C-B2B7144D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8" y="0"/>
            <a:ext cx="4797782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85F08-358A-7902-FC9B-116D47BABC6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158240"/>
            <a:ext cx="8229240" cy="485241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791A5-22DB-9F11-6521-D996AC4574AE}"/>
              </a:ext>
            </a:extLst>
          </p:cNvPr>
          <p:cNvSpPr txBox="1"/>
          <p:nvPr/>
        </p:nvSpPr>
        <p:spPr>
          <a:xfrm>
            <a:off x="265176" y="1158240"/>
            <a:ext cx="81473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Programming Language:</a:t>
            </a:r>
            <a:r>
              <a:rPr lang="en-IN" dirty="0"/>
              <a:t> Python 3.8+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Data Manipulation &amp; Math:</a:t>
            </a:r>
            <a:r>
              <a:rPr lang="en-IN" dirty="0"/>
              <a:t> Pandas, NumPy, SciPy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Machine Learning Algorithms:</a:t>
            </a:r>
            <a:r>
              <a:rPr lang="en-IN" dirty="0"/>
              <a:t> Scikit-Learn (Logistic Regression, Decision Trees, Random Forest, Isolation Forest), </a:t>
            </a:r>
            <a:r>
              <a:rPr lang="en-IN" dirty="0" err="1"/>
              <a:t>XGBoost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Class Imbalance Handling:</a:t>
            </a:r>
            <a:r>
              <a:rPr lang="en-IN" dirty="0"/>
              <a:t> Imbalanced-learn library (SMOTE)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Data Visualization:</a:t>
            </a:r>
            <a:r>
              <a:rPr lang="en-IN" dirty="0"/>
              <a:t> Matplotlib, Seaborn, Plotly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Model Serialization:</a:t>
            </a:r>
            <a:r>
              <a:rPr lang="en-IN" dirty="0"/>
              <a:t> </a:t>
            </a:r>
            <a:r>
              <a:rPr lang="en-IN" dirty="0" err="1"/>
              <a:t>Joblib</a:t>
            </a:r>
            <a:r>
              <a:rPr lang="en-IN" dirty="0"/>
              <a:t> (for .</a:t>
            </a:r>
            <a:r>
              <a:rPr lang="en-IN" dirty="0" err="1"/>
              <a:t>pkl</a:t>
            </a:r>
            <a:r>
              <a:rPr lang="en-IN" dirty="0"/>
              <a:t> model export)</a:t>
            </a:r>
          </a:p>
        </p:txBody>
      </p:sp>
    </p:spTree>
    <p:extLst>
      <p:ext uri="{BB962C8B-B14F-4D97-AF65-F5344CB8AC3E}">
        <p14:creationId xmlns:p14="http://schemas.microsoft.com/office/powerpoint/2010/main" val="184718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5878830" cy="913765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96645" y="913765"/>
            <a:ext cx="8701549" cy="5526364"/>
          </a:xfrm>
        </p:spPr>
        <p:txBody>
          <a:bodyPr/>
          <a:lstStyle/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  <a:p>
            <a:r>
              <a:rPr lang="en-US" sz="1600" dirty="0"/>
              <a:t>   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1600" dirty="0"/>
          </a:p>
          <a:p>
            <a:pPr algn="just"/>
            <a:endParaRPr lang="en-IN" sz="1600" dirty="0"/>
          </a:p>
          <a:p>
            <a:pPr algn="just"/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1600" dirty="0"/>
          </a:p>
          <a:p>
            <a:pPr algn="just"/>
            <a:endParaRPr lang="en-IN" sz="1600" dirty="0"/>
          </a:p>
          <a:p>
            <a:pPr marL="342900" indent="-342900" algn="just">
              <a:buAutoNum type="arabicPeriod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22CDF-A62B-C67F-24E2-4510DC6B2FDC}"/>
              </a:ext>
            </a:extLst>
          </p:cNvPr>
          <p:cNvSpPr txBox="1"/>
          <p:nvPr/>
        </p:nvSpPr>
        <p:spPr>
          <a:xfrm>
            <a:off x="196645" y="1153977"/>
            <a:ext cx="8750710" cy="4572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Dataset:</a:t>
            </a:r>
            <a:r>
              <a:rPr lang="en-US" dirty="0"/>
              <a:t> 284,807 transactions from September 2013 by European cardholders. Data consists of 28 pre-anonymized PCA features to protect privacy.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Feature Engineering:</a:t>
            </a:r>
            <a:endParaRPr lang="en-US" dirty="0"/>
          </a:p>
          <a:p>
            <a:pPr lvl="1"/>
            <a:r>
              <a:rPr lang="en-US" dirty="0"/>
              <a:t>Log transformation applied to the 'Amount' column to fix extreme right-skewness.</a:t>
            </a:r>
          </a:p>
          <a:p>
            <a:pPr lvl="1"/>
            <a:r>
              <a:rPr lang="en-US" dirty="0"/>
              <a:t>Derived an 'Hour of Day' feature from the raw 'Time' timestamp.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Scaling:</a:t>
            </a:r>
            <a:r>
              <a:rPr lang="en-US" dirty="0"/>
              <a:t> </a:t>
            </a:r>
            <a:r>
              <a:rPr lang="en-US" dirty="0" err="1"/>
              <a:t>StandardScaler</a:t>
            </a:r>
            <a:r>
              <a:rPr lang="en-US" dirty="0"/>
              <a:t> applied to ensure uniform feature distribution.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Imbalance Handling (SMOTE):</a:t>
            </a:r>
            <a:endParaRPr lang="en-US" dirty="0"/>
          </a:p>
          <a:p>
            <a:pPr lvl="1"/>
            <a:r>
              <a:rPr lang="en-US" dirty="0"/>
              <a:t>Synthetic Minority Over-sampling Technique (SMOTE) interpolates new, synthetic fraud data points.</a:t>
            </a:r>
          </a:p>
          <a:p>
            <a:pPr lvl="1"/>
            <a:r>
              <a:rPr lang="en-US" i="1" dirty="0"/>
              <a:t>Crucial Step:</a:t>
            </a:r>
            <a:r>
              <a:rPr lang="en-US" dirty="0"/>
              <a:t> Applied </a:t>
            </a:r>
            <a:r>
              <a:rPr lang="en-US" b="1" dirty="0"/>
              <a:t>only</a:t>
            </a:r>
            <a:r>
              <a:rPr lang="en-US" dirty="0"/>
              <a:t> to training data to prevent data leakage and artificially inflated test scores.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DB9CD-FA69-3E4E-F3FB-F8C3418A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07D19-E469-4750-BA1B-32B26A3D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878830" cy="913765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F760D-35C4-EFF1-2E76-A7820DA93C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96645" y="913765"/>
            <a:ext cx="8701549" cy="5526364"/>
          </a:xfrm>
        </p:spPr>
        <p:txBody>
          <a:bodyPr/>
          <a:lstStyle/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  <a:p>
            <a:r>
              <a:rPr lang="en-US" sz="1600" dirty="0"/>
              <a:t>   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1600" dirty="0"/>
          </a:p>
          <a:p>
            <a:pPr algn="just"/>
            <a:endParaRPr lang="en-IN" sz="1600" dirty="0"/>
          </a:p>
          <a:p>
            <a:pPr algn="just"/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 sz="1600" dirty="0"/>
          </a:p>
          <a:p>
            <a:pPr algn="just"/>
            <a:endParaRPr lang="en-IN" sz="1600" dirty="0"/>
          </a:p>
          <a:p>
            <a:pPr marL="342900" indent="-342900" algn="just">
              <a:buAutoNum type="arabicPeriod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5AE93-7508-9D34-678C-BCDA75325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962"/>
            <a:ext cx="9144000" cy="414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9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C68A-032D-055F-2BD2-4B77BAE8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647C-F9B4-886F-51B0-29312FB2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36030" cy="913765"/>
          </a:xfrm>
        </p:spPr>
        <p:txBody>
          <a:bodyPr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B0BF2-4E82-1377-1541-5FC59EFCD1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96645" y="1012723"/>
            <a:ext cx="8701549" cy="542740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7FCE1-49D6-FDE2-DF0F-122C7F46E3AF}"/>
              </a:ext>
            </a:extLst>
          </p:cNvPr>
          <p:cNvSpPr txBox="1"/>
          <p:nvPr/>
        </p:nvSpPr>
        <p:spPr>
          <a:xfrm>
            <a:off x="196644" y="1012723"/>
            <a:ext cx="8701549" cy="5126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Metrics Used:</a:t>
            </a:r>
            <a:r>
              <a:rPr lang="en-US" dirty="0"/>
              <a:t> Discarded standard accuracy. Evaluated models strictly using </a:t>
            </a:r>
            <a:r>
              <a:rPr lang="en-US" b="1" dirty="0"/>
              <a:t>F1-Score, Recall, PR-AUC, and Balanced Accuracy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Performance Summary:</a:t>
            </a:r>
            <a:endParaRPr lang="en-US" dirty="0"/>
          </a:p>
          <a:p>
            <a:pPr lvl="1"/>
            <a:r>
              <a:rPr lang="en-US" dirty="0"/>
              <a:t>Baseline Random Forest &amp; </a:t>
            </a:r>
            <a:r>
              <a:rPr lang="en-US" dirty="0" err="1"/>
              <a:t>XGBoost</a:t>
            </a:r>
            <a:r>
              <a:rPr lang="en-US" dirty="0"/>
              <a:t> achieved F1-Scores around ~0.84 to ~0.86.</a:t>
            </a:r>
          </a:p>
          <a:p>
            <a:pPr lvl="1"/>
            <a:r>
              <a:rPr lang="en-US" dirty="0"/>
              <a:t>The Hybrid IF-XGB-CST model achieved an ROC-AUC of </a:t>
            </a:r>
            <a:r>
              <a:rPr lang="en-US" b="1" dirty="0"/>
              <a:t>~0.98</a:t>
            </a:r>
            <a:r>
              <a:rPr lang="en-US" dirty="0"/>
              <a:t>.</a:t>
            </a:r>
          </a:p>
          <a:p>
            <a:pPr lvl="1"/>
            <a:br>
              <a:rPr lang="en-US" dirty="0"/>
            </a:br>
            <a:endParaRPr lang="en-US" dirty="0"/>
          </a:p>
          <a:p>
            <a:r>
              <a:rPr lang="en-US" b="1" dirty="0"/>
              <a:t>Cost Optimization Breakthrough:</a:t>
            </a:r>
            <a:endParaRPr lang="en-US" dirty="0"/>
          </a:p>
          <a:p>
            <a:pPr lvl="1"/>
            <a:r>
              <a:rPr lang="en-US" dirty="0"/>
              <a:t>Standard models use a 0.5 decision threshold. Our cost-optimization shifted the threshold down to </a:t>
            </a:r>
            <a:r>
              <a:rPr lang="en-US" b="1" dirty="0"/>
              <a:t>~0.02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aggressive shift heavily prioritized </a:t>
            </a:r>
            <a:r>
              <a:rPr lang="en-US" b="1" dirty="0"/>
              <a:t>Recall</a:t>
            </a:r>
            <a:r>
              <a:rPr lang="en-US" dirty="0"/>
              <a:t> (catching fraud) over Precision (avoiding false alarms).</a:t>
            </a:r>
          </a:p>
          <a:p>
            <a:pPr lvl="1"/>
            <a:r>
              <a:rPr lang="en-US" i="1" dirty="0"/>
              <a:t>Result:</a:t>
            </a:r>
            <a:r>
              <a:rPr lang="en-US" dirty="0"/>
              <a:t> Saves the financial institution over </a:t>
            </a:r>
            <a:r>
              <a:rPr lang="en-US" b="1" dirty="0"/>
              <a:t>20%</a:t>
            </a:r>
            <a:r>
              <a:rPr lang="en-US" dirty="0"/>
              <a:t> in total operational costs compared to standard thresholding.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49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3C78-53A1-4301-57F3-EC9B2240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7E22-0857-3D73-ACA5-5B4F631B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36030" cy="913765"/>
          </a:xfrm>
        </p:spPr>
        <p:txBody>
          <a:bodyPr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785C6-7853-2EC0-6C2E-1001A262FB7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96645" y="1012723"/>
            <a:ext cx="8701549" cy="5427406"/>
          </a:xfrm>
        </p:spPr>
        <p:txBody>
          <a:bodyPr/>
          <a:lstStyle/>
          <a:p>
            <a:pPr algn="just"/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1600" dirty="0"/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B1533-C1C7-62E6-7870-BDDB26B1D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3889"/>
            <a:ext cx="9144000" cy="353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/>
          </p:nvPr>
        </p:nvSpPr>
        <p:spPr bwMode="auto">
          <a:xfrm>
            <a:off x="196646" y="-180401"/>
            <a:ext cx="8750708" cy="5678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50000"/>
              </a:lnSpc>
            </a:pP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n-lt"/>
                <a:cs typeface="Times New Roman" panose="02020603050405020304" pitchFamily="18" charset="0"/>
              </a:rPr>
              <a:t>Hybrid Learning Architecture: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Successfully bridges unsupervised anomaly detection (Isolation Forest) with supervised predictive power (</a:t>
            </a:r>
            <a:r>
              <a:rPr lang="en-US" sz="1600" dirty="0" err="1">
                <a:latin typeface="+mn-lt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) in a single unified pipeline.</a:t>
            </a:r>
            <a:br>
              <a:rPr lang="en-US" sz="1600" dirty="0">
                <a:latin typeface="+mn-lt"/>
                <a:cs typeface="Times New Roman" panose="02020603050405020304" pitchFamily="18" charset="0"/>
              </a:rPr>
            </a:b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n-lt"/>
                <a:cs typeface="Times New Roman" panose="02020603050405020304" pitchFamily="18" charset="0"/>
              </a:rPr>
              <a:t>Custom Evaluation Framework: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Built a specialized evaluation metric system prioritizing Balanced Accuracy, F1, PR-AUC, and Matthews Correlation Coefficient (MCC) over flawed raw accuracy.</a:t>
            </a:r>
            <a:br>
              <a:rPr lang="en-US" sz="1600" dirty="0">
                <a:latin typeface="+mn-lt"/>
                <a:cs typeface="Times New Roman" panose="02020603050405020304" pitchFamily="18" charset="0"/>
              </a:rPr>
            </a:b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n-lt"/>
                <a:cs typeface="Times New Roman" panose="02020603050405020304" pitchFamily="18" charset="0"/>
              </a:rPr>
              <a:t>Business-Aware Decision Engine: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Direct integration of real-world financial cost logic ($500 vs $10) into the model's core decision boundary, rather than relying on statistical defaults.</a:t>
            </a:r>
            <a:br>
              <a:rPr lang="en-US" sz="1600" dirty="0">
                <a:latin typeface="+mn-lt"/>
                <a:cs typeface="Times New Roman" panose="02020603050405020304" pitchFamily="18" charset="0"/>
              </a:rPr>
            </a:b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n-lt"/>
                <a:cs typeface="Times New Roman" panose="02020603050405020304" pitchFamily="18" charset="0"/>
              </a:rPr>
              <a:t>Data-Leakage Prevention: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Engineered a strict preprocessing pipeline ensuring SMOTE over-sampling is mathematically isolated to training data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297" y="0"/>
            <a:ext cx="3755921" cy="806245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157317" y="1219200"/>
            <a:ext cx="8770374" cy="4296697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+mn-lt"/>
              </a:rPr>
              <a:t>Real-Time Streaming Integration:</a:t>
            </a:r>
            <a:r>
              <a:rPr lang="en-US" sz="1800" dirty="0">
                <a:latin typeface="+mn-lt"/>
              </a:rPr>
              <a:t> Deploying the inference engine alongside Apache Kafka or Spark Streaming to classify live transactions with millisecond latency.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Deep Sequence Modeling:</a:t>
            </a:r>
            <a:r>
              <a:rPr lang="en-US" sz="1800" dirty="0">
                <a:latin typeface="+mn-lt"/>
              </a:rPr>
              <a:t> Applying Recurrent Neural Networks (RNNs) or Long Short-Term Memory networks (LSTMs) to capture the chronological, behavioral spending patterns of individual users over time.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Federated Learning:</a:t>
            </a:r>
            <a:r>
              <a:rPr lang="en-US" sz="1800" dirty="0">
                <a:latin typeface="+mn-lt"/>
              </a:rPr>
              <a:t> Enabling privacy-preserving distributed model training, allowing multiple separate banking institutions to train a shared global fraud model without exposing their underlying customer data.</a:t>
            </a:r>
          </a:p>
          <a:p>
            <a:endParaRPr lang="en-IN" sz="180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037006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REFERENCES / LINKS USED: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980" y="914040"/>
            <a:ext cx="8819535" cy="4572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Machine Learning Group - ULB, "Credit Card Fraud Detection Dataset", Kaggle, 2018.</a:t>
            </a:r>
            <a:br>
              <a:rPr lang="en-IN" dirty="0"/>
            </a:br>
            <a:endParaRPr lang="en-IN" dirty="0"/>
          </a:p>
          <a:p>
            <a:r>
              <a:rPr lang="en-IN" dirty="0"/>
              <a:t>N. V. Chawla, K. W. Bowyer, L. O. Hall, and W. P. </a:t>
            </a:r>
            <a:r>
              <a:rPr lang="en-IN" dirty="0" err="1"/>
              <a:t>Kegelmeyer</a:t>
            </a:r>
            <a:r>
              <a:rPr lang="en-IN" dirty="0"/>
              <a:t>, "SMOTE: Synthetic Minority Over-sampling Technique," Journal of Artificial Intelligence Research, vol. 16, pp. 321-357, 2002.</a:t>
            </a:r>
            <a:br>
              <a:rPr lang="en-IN" dirty="0"/>
            </a:br>
            <a:endParaRPr lang="en-IN" dirty="0"/>
          </a:p>
          <a:p>
            <a:r>
              <a:rPr lang="en-IN" dirty="0"/>
              <a:t>T. Chen and C. </a:t>
            </a:r>
            <a:r>
              <a:rPr lang="en-IN" dirty="0" err="1"/>
              <a:t>Guestrin</a:t>
            </a:r>
            <a:r>
              <a:rPr lang="en-IN" dirty="0"/>
              <a:t>, "</a:t>
            </a:r>
            <a:r>
              <a:rPr lang="en-IN" dirty="0" err="1"/>
              <a:t>XGBoost</a:t>
            </a:r>
            <a:r>
              <a:rPr lang="en-IN" dirty="0"/>
              <a:t>: A Scalable Tree Boosting System," in Proceedings of the 22nd ACM SIGKDD International Conference, 2016.</a:t>
            </a:r>
            <a:br>
              <a:rPr lang="en-IN" dirty="0"/>
            </a:br>
            <a:endParaRPr lang="en-IN" dirty="0"/>
          </a:p>
          <a:p>
            <a:r>
              <a:rPr lang="en-IN" dirty="0"/>
              <a:t>F. T. Liu, K. M. Ting, and Z.-H. Zhou, "Isolation Forest," in 2008 Eighth IEEE International Conference on Data Mining, 2008.</a:t>
            </a:r>
            <a:br>
              <a:rPr lang="en-IN" dirty="0"/>
            </a:br>
            <a:endParaRPr lang="en-IN" dirty="0"/>
          </a:p>
          <a:p>
            <a:r>
              <a:rPr lang="en-IN" dirty="0"/>
              <a:t>C. Elkan, "The Foundations of Cost-Sensitive Learning," in International Joint Conference on Artificial Intelligence, 2001.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endParaRPr lang="fr-FR" sz="16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626" y="0"/>
            <a:ext cx="3588413" cy="875071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249571" y="1012723"/>
            <a:ext cx="8550299" cy="294662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The novel Hybrid IF-XGB-CST framework proves to be highly robust, accurate, and, most importantly, financially optimized.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The project successfully demonstrates that choosing the right evaluation metrics (Recall, PR-AUC, Cost) is far more important for business applications than theoretical statistical accuracy.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The pipeline's automated and modular design ensures the model is ready for real-world production analysis.</a:t>
            </a:r>
            <a:endParaRPr lang="en-IN" sz="18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71" y="4201080"/>
            <a:ext cx="8550299" cy="21210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17</a:t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/>
</ds:datastoreItem>
</file>

<file path=customXml/itemProps2.xml><?xml version="1.0" encoding="utf-8"?>
<ds:datastoreItem xmlns:ds="http://schemas.openxmlformats.org/officeDocument/2006/customXml" ds:itemID="{4A62A602-78C1-468C-BB25-57CD481DB741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1347</Words>
  <Application>Microsoft Office PowerPoint</Application>
  <PresentationFormat>On-screen Show (4:3)</PresentationFormat>
  <Paragraphs>152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PowerPoint Presentation</vt:lpstr>
      <vt:lpstr>TABLE OF CONTENTS </vt:lpstr>
      <vt:lpstr>PowerPoint Presentation</vt:lpstr>
      <vt:lpstr>ABSTRACT</vt:lpstr>
      <vt:lpstr>PROBLEM STATEMENT</vt:lpstr>
      <vt:lpstr>Framework (Core Architecture)</vt:lpstr>
      <vt:lpstr>Framework (Core Architecture)</vt:lpstr>
      <vt:lpstr>TECHNICAL DETAILS</vt:lpstr>
      <vt:lpstr>METHODOLOGY</vt:lpstr>
      <vt:lpstr>METHODOLOGY</vt:lpstr>
      <vt:lpstr>EXPERIMENTAL RESULTS AND ANALYSIS</vt:lpstr>
      <vt:lpstr>EXPERIMENTAL RESULTS AND ANALYSIS</vt:lpstr>
      <vt:lpstr>KEY FEATURES</vt:lpstr>
      <vt:lpstr>FUTURE SCOPE</vt:lpstr>
      <vt:lpstr>   REFERENCES / LINKS USED: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Pratham Midha</cp:lastModifiedBy>
  <cp:revision>2318</cp:revision>
  <dcterms:created xsi:type="dcterms:W3CDTF">2010-04-09T07:36:00Z</dcterms:created>
  <dcterms:modified xsi:type="dcterms:W3CDTF">2026-05-14T17:26:40Z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2368E3DF5DC048B09C07F15E6A57EB3B_12</vt:lpwstr>
  </property>
  <property fmtid="{D5CDD505-2E9C-101B-9397-08002B2CF9AE}" pid="15" name="KSOProductBuildVer">
    <vt:lpwstr>1033-12.2.0.23196</vt:lpwstr>
  </property>
</Properties>
</file>